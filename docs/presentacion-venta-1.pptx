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.fntdata"/><Relationship Id="rId6" Type="http://schemas.openxmlformats.org/officeDocument/2006/relationships/slide" Target="slides/slide1.xml"/><Relationship Id="rId18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558c6acac80c78e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h558c6acac80c78e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ASbCqhMiTEbr3zDU-LQ9Z-VCgCRJgTad/view" TargetMode="External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70907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0" y="4709070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963191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 DESARROLLO DE SOFTWARE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353716"/>
            <a:ext cx="8601000" cy="1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Huellitas: </a:t>
            </a:r>
            <a:r>
              <a:rPr b="1" i="0" lang="en-US" sz="4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de Gestión Veterinaria y Guardería Canina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765202"/>
            <a:ext cx="6953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Automatización operativa, blindaje de caja y control estricto de cupo físico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47750" y="4694783"/>
            <a:ext cx="26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Defensa de Proyecto •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MVP 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76675" y="4694783"/>
            <a:ext cx="2214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Exposición en 3 Bloques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685800" y="2338387"/>
            <a:ext cx="5181600" cy="990600"/>
          </a:xfrm>
          <a:prstGeom prst="roundRect">
            <a:avLst>
              <a:gd fmla="val 115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5800" y="3557587"/>
            <a:ext cx="5181600" cy="990600"/>
          </a:xfrm>
          <a:prstGeom prst="roundRect">
            <a:avLst>
              <a:gd fmla="val 115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85800" y="4776787"/>
            <a:ext cx="5181600" cy="819150"/>
          </a:xfrm>
          <a:prstGeom prst="roundRect">
            <a:avLst>
              <a:gd fmla="val 13953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85800" y="2338387"/>
            <a:ext cx="38100" cy="990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85800" y="3557587"/>
            <a:ext cx="38100" cy="990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85800" y="4776787"/>
            <a:ext cx="38100" cy="8191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966912"/>
            <a:ext cx="51816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966912"/>
            <a:ext cx="51816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6050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8242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 1 • NEGOCIO Y DIAGNÓSTICO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5800" y="80010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Cliente: Operatoria Dual en Crecimiento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2566987"/>
            <a:ext cx="615076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Clínica Veterinaria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2881312"/>
            <a:ext cx="5857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Consultas, cirugías, vacunación y especialistas externos.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3786187"/>
            <a:ext cx="615076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Guardería y Hotel Canino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52500" y="4100512"/>
            <a:ext cx="5857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Estadías diurnas y nocturnas con patio recreativo.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52500" y="4967287"/>
            <a:ext cx="47815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Cuello de botella actual: Gestión exclusiva en planilla Excel.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573350" y="2654834"/>
            <a:ext cx="3454500" cy="262470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179150" y="2654825"/>
            <a:ext cx="3651300" cy="262470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051599" y="2654834"/>
            <a:ext cx="3454500" cy="262470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050" y="299773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5837" y="2997709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8299" y="299773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4825" y="313108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9187" y="313105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84999" y="3131084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DOLORES OPERACIONALES CRÍTICOS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85800" y="80010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Tres Puntos de Fuga en la Operación Diaria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0050" y="3645434"/>
            <a:ext cx="3834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Fuga de Dinero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0050" y="4064534"/>
            <a:ext cx="365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Señas informales olvidadas.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40050" y="4456845"/>
            <a:ext cx="365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Saldos deudores sin reclamar.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445837" y="3645409"/>
            <a:ext cx="3834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Sobreventa de Cupo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382287" y="4064509"/>
            <a:ext cx="365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Guarderia </a:t>
            </a: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tope seguro en 10 perros.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445837" y="4456820"/>
            <a:ext cx="365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Picos de hasta 14 con riesgo físico.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18299" y="3645434"/>
            <a:ext cx="3834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Caos de Registros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18299" y="4064534"/>
            <a:ext cx="365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Múltiples filas para un mismo dueño.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18299" y="4456845"/>
            <a:ext cx="30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Historial clínico mezclado con pagos.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685800" y="2171700"/>
            <a:ext cx="6263700" cy="1057200"/>
          </a:xfrm>
          <a:prstGeom prst="roundRect">
            <a:avLst>
              <a:gd fmla="val 12612" name="adj"/>
            </a:avLst>
          </a:prstGeom>
          <a:solidFill>
            <a:srgbClr val="F0FDFA"/>
          </a:solidFill>
          <a:ln cap="flat" cmpd="sng" w="9525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85800" y="3419475"/>
            <a:ext cx="6263700" cy="1057200"/>
          </a:xfrm>
          <a:prstGeom prst="roundRect">
            <a:avLst>
              <a:gd fmla="val 12612" name="adj"/>
            </a:avLst>
          </a:prstGeom>
          <a:solidFill>
            <a:srgbClr val="F0FDFA"/>
          </a:solidFill>
          <a:ln cap="flat" cmpd="sng" w="9525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85800" y="4667250"/>
            <a:ext cx="6263700" cy="1057200"/>
          </a:xfrm>
          <a:prstGeom prst="roundRect">
            <a:avLst>
              <a:gd fmla="val 12612" name="adj"/>
            </a:avLst>
          </a:prstGeom>
          <a:solidFill>
            <a:srgbClr val="F0FDFA"/>
          </a:solidFill>
          <a:ln cap="flat" cmpd="sng" w="9525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380" y="1947862"/>
            <a:ext cx="4175818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0380" y="1947862"/>
            <a:ext cx="4175818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85800" y="533400"/>
            <a:ext cx="1150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 VALOR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85800" y="800100"/>
            <a:ext cx="11506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Operacional Inmediato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42975" y="2428875"/>
            <a:ext cx="754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Freno a la Fuga Financiera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42975" y="2752725"/>
            <a:ext cx="718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Alerta visual de morosos al retirar la mascota en mostrador.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42975" y="3676650"/>
            <a:ext cx="754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Blindaje Físico de Guardería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42975" y="4000500"/>
            <a:ext cx="718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Bloqueo automático de reservas al alcanzar el tope de 8 a 10 plazas.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42975" y="4924425"/>
            <a:ext cx="754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Padrón Único Relacional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42975" y="5248275"/>
            <a:ext cx="718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limpia: 1 Dueño, múltiples mascotas y contactos.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685800" y="2562225"/>
            <a:ext cx="2042219" cy="1390650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85800" y="2562225"/>
            <a:ext cx="204221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880419" y="2562225"/>
            <a:ext cx="2042219" cy="1390650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880419" y="2562225"/>
            <a:ext cx="2042219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075039" y="2562225"/>
            <a:ext cx="2042219" cy="1390650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075039" y="2562225"/>
            <a:ext cx="204221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269658" y="2562225"/>
            <a:ext cx="2042219" cy="1390650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269658" y="2562225"/>
            <a:ext cx="204221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9464278" y="2562225"/>
            <a:ext cx="2042219" cy="1390650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9464278" y="2562225"/>
            <a:ext cx="2042219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85800" y="4295775"/>
            <a:ext cx="5257800" cy="1038225"/>
          </a:xfrm>
          <a:prstGeom prst="roundRect">
            <a:avLst>
              <a:gd fmla="val 11009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248400" y="4295775"/>
            <a:ext cx="5257800" cy="1038225"/>
          </a:xfrm>
          <a:prstGeom prst="roundRect">
            <a:avLst>
              <a:gd fmla="val 11009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 2 • PLANIFICACIÓN GENERAL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85800" y="80010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Línea de Tiempo Macro: 10 Semanas (5 Sprints)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76300" y="2752725"/>
            <a:ext cx="175646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1 (SEM 1-2)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070919" y="2752725"/>
            <a:ext cx="175646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2 (SEM 3-4)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265539" y="2752725"/>
            <a:ext cx="175646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3 (SEM 5-6)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460158" y="2752725"/>
            <a:ext cx="175646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4 (SEM 7-8)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654778" y="2752725"/>
            <a:ext cx="175646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5 (SEM 9-10)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76300" y="3067050"/>
            <a:ext cx="2180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Padrón y Migración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76300" y="3362325"/>
            <a:ext cx="17564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Limpieza del Excel histórico.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3070919" y="3067050"/>
            <a:ext cx="2180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Caja y Cupos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3070919" y="3362325"/>
            <a:ext cx="17564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Cobros, señas y tope inicial.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265539" y="3067050"/>
            <a:ext cx="2180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Guardería Full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265539" y="3362325"/>
            <a:ext cx="17564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 a 4 meses y cotizador.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460158" y="3067050"/>
            <a:ext cx="2180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Historia Clínica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7460158" y="3362325"/>
            <a:ext cx="17564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Fichas médicas y cirujanos.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654778" y="3067050"/>
            <a:ext cx="2180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Despliegue Final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654778" y="3362325"/>
            <a:ext cx="17564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Puesta en marcha y capacitación.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52500" y="4486275"/>
            <a:ext cx="6200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Hito 1 (Semana 4): MVP Operativo Inicial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52500" y="4743450"/>
            <a:ext cx="5676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relacional migrada, cobros en mostrador y bloqueo de </a:t>
            </a:r>
            <a:r>
              <a:rPr lang="en-US" sz="1200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patio.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515100" y="4486275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Hito 2 (Semana 10): Entrega y Producción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515100" y="4743450"/>
            <a:ext cx="5676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Historias clínicas, panel del Dueño y personal capacitado.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685800" y="2571750"/>
            <a:ext cx="5219700" cy="2752725"/>
          </a:xfrm>
          <a:prstGeom prst="roundRect">
            <a:avLst>
              <a:gd fmla="val 553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286500" y="2495550"/>
            <a:ext cx="5219700" cy="2905125"/>
          </a:xfrm>
          <a:prstGeom prst="roundRect">
            <a:avLst>
              <a:gd fmla="val 524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600825" y="4419600"/>
            <a:ext cx="4591050" cy="66675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2905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28289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PRIORIZACIÓN FUNCIONAL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85800" y="80010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Foco Estratégico: Qué Entra y Qué Queda Fuera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000125" y="3305175"/>
            <a:ext cx="5738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Padrón unificado (1 dueño N mascotas)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000125" y="3676650"/>
            <a:ext cx="5738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Cobros, señas variables y deudores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000125" y="4048125"/>
            <a:ext cx="5738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Cupo estricto guardería (8-10 perros)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000125" y="4419600"/>
            <a:ext cx="5738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Historia médica separada de caja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000125" y="4791075"/>
            <a:ext cx="5738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Honorarios a veterinarios externos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600825" y="3228975"/>
            <a:ext cx="559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Algoritmo de karma y puntualidad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600825" y="3600450"/>
            <a:ext cx="559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Notificaciones por WhatsApp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600825" y="3971925"/>
            <a:ext cx="5591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Portal web de autoservicio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343025" y="2886075"/>
            <a:ext cx="323790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MVP 1: Crítico Operativo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943725" y="2809875"/>
            <a:ext cx="28628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Posterior: MVP 2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6734175" y="4552950"/>
            <a:ext cx="441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Justificación: Ordenar la base antes de sumar automatizaciones externas.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/>
        </p:nvSpPr>
        <p:spPr>
          <a:xfrm>
            <a:off x="685800" y="2319337"/>
            <a:ext cx="10820400" cy="1352550"/>
          </a:xfrm>
          <a:prstGeom prst="roundRect">
            <a:avLst>
              <a:gd fmla="val 112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85800" y="3976687"/>
            <a:ext cx="3479750" cy="156210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356050" y="3976687"/>
            <a:ext cx="3479750" cy="156210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8026300" y="3976687"/>
            <a:ext cx="3479750" cy="156210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858250" y="2719387"/>
            <a:ext cx="2305050" cy="285750"/>
          </a:xfrm>
          <a:prstGeom prst="roundRect">
            <a:avLst>
              <a:gd fmla="val 50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COMERCIAL LLAVE EN MANO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85800" y="80010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Inversión Cerrada y Pagos Vinculados a Hitos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028700" y="2586037"/>
            <a:ext cx="401002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Presupuesto Total Cerrado (MVP 1)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914400" y="4205287"/>
            <a:ext cx="3117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30%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584650" y="4205287"/>
            <a:ext cx="3117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254900" y="4205287"/>
            <a:ext cx="3117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30%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028700" y="2824162"/>
            <a:ext cx="513814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$3.000.000 ARS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896350" y="2776537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Garantía 30 Días Posproducción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5148175" y="3033700"/>
            <a:ext cx="60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 costos imprevistos ni horas extra</a:t>
            </a:r>
            <a:endParaRPr b="0" i="0" sz="12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Validez de </a:t>
            </a:r>
            <a:r>
              <a:rPr b="1"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 días corridos</a:t>
            </a: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desde la fecha de presentación</a:t>
            </a:r>
            <a:endParaRPr sz="12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923925" y="4586287"/>
            <a:ext cx="39420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Anticipo Inicial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23925" y="4862512"/>
            <a:ext cx="3754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$900.000 ARS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23925" y="5119687"/>
            <a:ext cx="3754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Firma y limpieza de base.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4594175" y="4586287"/>
            <a:ext cx="39420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Hito 1 (Semana 4)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4594175" y="4862512"/>
            <a:ext cx="3754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$1.200.000 ARS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4594175" y="5119687"/>
            <a:ext cx="3754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Padrón, cobros y cupo inicial.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264425" y="4586287"/>
            <a:ext cx="392757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Hito 2 (Semana 10)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264425" y="4862512"/>
            <a:ext cx="3754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$900.000 ARS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8264425" y="5119687"/>
            <a:ext cx="3754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Entrega, clínica y capacitación.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/>
          <p:nvPr/>
        </p:nvSpPr>
        <p:spPr>
          <a:xfrm>
            <a:off x="685800" y="2762250"/>
            <a:ext cx="2533650" cy="2371725"/>
          </a:xfrm>
          <a:prstGeom prst="roundRect">
            <a:avLst>
              <a:gd fmla="val 562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3256500" y="2751038"/>
            <a:ext cx="2533800" cy="2371800"/>
          </a:xfrm>
          <a:prstGeom prst="roundRect">
            <a:avLst>
              <a:gd fmla="val 562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442925" y="2756625"/>
            <a:ext cx="2533800" cy="2371800"/>
          </a:xfrm>
          <a:prstGeom prst="roundRect">
            <a:avLst>
              <a:gd fmla="val 562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981700" y="2756613"/>
            <a:ext cx="2533800" cy="2371800"/>
          </a:xfrm>
          <a:prstGeom prst="roundRect">
            <a:avLst>
              <a:gd fmla="val 562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067050"/>
            <a:ext cx="20764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5100" y="3055838"/>
            <a:ext cx="20764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1525" y="3061425"/>
            <a:ext cx="20764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0300" y="3061413"/>
            <a:ext cx="20764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685800" y="533400"/>
            <a:ext cx="1150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 3 • ARQUITECTURA TÉCNICA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85800" y="800100"/>
            <a:ext cx="11506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 Tecnológico Seleccionado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914400" y="3486150"/>
            <a:ext cx="272534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+ FastAPI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914400" y="3838575"/>
            <a:ext cx="21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de datos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914400" y="4391025"/>
            <a:ext cx="217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Documentación automática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3485100" y="3474938"/>
            <a:ext cx="272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+ SQLAlchemy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3485100" y="3827363"/>
            <a:ext cx="21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Relacional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3485100" y="4379813"/>
            <a:ext cx="21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Transaccional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671525" y="3480525"/>
            <a:ext cx="272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+ TypeScript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8671525" y="3832950"/>
            <a:ext cx="2595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Componentes reutilizables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8671525" y="4166325"/>
            <a:ext cx="217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Interfaz ágil para mostrador y móvil.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6210300" y="3480513"/>
            <a:ext cx="272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Perfilado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210300" y="3832938"/>
            <a:ext cx="217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Saneamiento del Excel histórico.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6210300" y="4385388"/>
            <a:ext cx="217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Integridad relacional garantizada.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685725" y="2600325"/>
            <a:ext cx="6564000" cy="2657400"/>
          </a:xfrm>
          <a:prstGeom prst="roundRect">
            <a:avLst>
              <a:gd fmla="val 5017" name="adj"/>
            </a:avLst>
          </a:prstGeom>
          <a:solidFill>
            <a:srgbClr val="FFF9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592615" y="2847975"/>
            <a:ext cx="3913584" cy="895350"/>
          </a:xfrm>
          <a:prstGeom prst="roundRect">
            <a:avLst>
              <a:gd fmla="val 127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592615" y="3914775"/>
            <a:ext cx="3913584" cy="1095375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922675" y="2761500"/>
            <a:ext cx="1089000" cy="399900"/>
          </a:xfrm>
          <a:prstGeom prst="roundRect">
            <a:avLst>
              <a:gd fmla="val 23076" name="adj"/>
            </a:avLst>
          </a:prstGeom>
          <a:solidFill>
            <a:srgbClr val="FB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592615" y="2847975"/>
            <a:ext cx="38100" cy="8953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7592615" y="3914775"/>
            <a:ext cx="38100" cy="10953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DEL SISTEMA • MÓDULO MOSTRADOR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85800" y="80010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Búsqueda Ágil y Alerta Visual de Morosos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5962278" y="2776788"/>
            <a:ext cx="10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pendiente </a:t>
            </a:r>
            <a:endParaRPr b="1" sz="1050">
              <a:solidFill>
                <a:srgbClr val="58726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$58.000</a:t>
            </a:r>
            <a:endParaRPr b="1" sz="1350">
              <a:solidFill>
                <a:srgbClr val="58726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7840265" y="3057525"/>
            <a:ext cx="43517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Cero Deudas Involuntarias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7840265" y="3333750"/>
            <a:ext cx="43204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Aviso en pantalla antes de restituir al perro.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7840265" y="4124325"/>
            <a:ext cx="43517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Conciliación Inmediata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840265" y="4400550"/>
            <a:ext cx="35516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 en mostrador de transferencias y señas.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86450" y="2688912"/>
            <a:ext cx="36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CUENTAS PENDIENTES</a:t>
            </a:r>
            <a:endParaRPr b="1" sz="1300"/>
          </a:p>
        </p:txBody>
      </p:sp>
      <p:sp>
        <p:nvSpPr>
          <p:cNvPr id="283" name="Google Shape;283;p21"/>
          <p:cNvSpPr txBox="1"/>
          <p:nvPr/>
        </p:nvSpPr>
        <p:spPr>
          <a:xfrm>
            <a:off x="6411950" y="3009700"/>
            <a:ext cx="580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986450" y="2900125"/>
            <a:ext cx="36432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3B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Panel de deudores</a:t>
            </a:r>
            <a:endParaRPr sz="1900">
              <a:solidFill>
                <a:srgbClr val="263B4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63B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resumen para que no se te pase ningún cobro.</a:t>
            </a:r>
            <a:endParaRPr sz="1200">
              <a:solidFill>
                <a:srgbClr val="263B4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1081125" y="3686800"/>
            <a:ext cx="593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pc="75" sz="900">
                <a:solidFill>
                  <a:srgbClr val="99938B"/>
                </a:solidFill>
              </a:rPr>
              <a:t>CLIENTE Y MASCOTA				MOTIVO			MONTO</a:t>
            </a:r>
            <a:r>
              <a:rPr lang="en-US" sz="1300">
                <a:solidFill>
                  <a:schemeClr val="dk1"/>
                </a:solidFill>
              </a:rPr>
              <a:t> 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>
            <a:off x="923625" y="4018350"/>
            <a:ext cx="6088200" cy="3600"/>
          </a:xfrm>
          <a:prstGeom prst="straightConnector1">
            <a:avLst/>
          </a:prstGeom>
          <a:noFill/>
          <a:ln cap="flat" cmpd="sng" w="9525">
            <a:solidFill>
              <a:srgbClr val="99938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7" name="Google Shape;2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450" y="4071701"/>
            <a:ext cx="331256" cy="85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21"/>
          <p:cNvCxnSpPr/>
          <p:nvPr/>
        </p:nvCxnSpPr>
        <p:spPr>
          <a:xfrm>
            <a:off x="923625" y="4499875"/>
            <a:ext cx="6088200" cy="3600"/>
          </a:xfrm>
          <a:prstGeom prst="straightConnector1">
            <a:avLst/>
          </a:prstGeom>
          <a:noFill/>
          <a:ln cap="flat" cmpd="sng" w="9525">
            <a:solidFill>
              <a:srgbClr val="99938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1"/>
          <p:cNvSpPr txBox="1"/>
          <p:nvPr/>
        </p:nvSpPr>
        <p:spPr>
          <a:xfrm>
            <a:off x="986450" y="4071700"/>
            <a:ext cx="247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9938B"/>
                </a:solidFill>
              </a:rPr>
              <a:t>1</a:t>
            </a:r>
            <a:endParaRPr sz="1000">
              <a:solidFill>
                <a:srgbClr val="99938B"/>
              </a:solidFill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986450" y="4561275"/>
            <a:ext cx="247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9938B"/>
                </a:solidFill>
              </a:rPr>
              <a:t>2</a:t>
            </a:r>
            <a:endParaRPr sz="1000">
              <a:solidFill>
                <a:srgbClr val="99938B"/>
              </a:solidFill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1440900" y="4071700"/>
            <a:ext cx="1339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Carla Fernández</a:t>
            </a:r>
            <a:endParaRPr b="1" sz="750">
              <a:solidFill>
                <a:srgbClr val="58726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Simba - Mestizo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1440900" y="4523775"/>
            <a:ext cx="1339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Sofía Martínez</a:t>
            </a:r>
            <a:endParaRPr b="1" sz="750">
              <a:solidFill>
                <a:srgbClr val="58726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Milo - Caniche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3358600" y="4124325"/>
            <a:ext cx="1804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</a:t>
            </a:r>
            <a:r>
              <a:rPr b="1"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</a:t>
            </a:r>
            <a:r>
              <a:rPr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extracción dental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3511025" y="4599375"/>
            <a:ext cx="1804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Guardería - reserva de agosto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5374013" y="4124313"/>
            <a:ext cx="1804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$32.000 </a:t>
            </a:r>
            <a:r>
              <a:rPr b="1"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            &gt;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374013" y="4597088"/>
            <a:ext cx="1804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$18</a:t>
            </a:r>
            <a:r>
              <a:rPr b="1" lang="en-US" sz="8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.500 </a:t>
            </a:r>
            <a:r>
              <a:rPr b="1" lang="en-US" sz="750">
                <a:solidFill>
                  <a:srgbClr val="58726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            &gt;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/>
          <p:nvPr/>
        </p:nvSpPr>
        <p:spPr>
          <a:xfrm>
            <a:off x="7961090" y="3051562"/>
            <a:ext cx="3954900" cy="895500"/>
          </a:xfrm>
          <a:prstGeom prst="roundRect">
            <a:avLst>
              <a:gd fmla="val 12765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7961090" y="4118362"/>
            <a:ext cx="3954900" cy="895500"/>
          </a:xfrm>
          <a:prstGeom prst="roundRect">
            <a:avLst>
              <a:gd fmla="val 12765" name="adj"/>
            </a:avLst>
          </a:prstGeom>
          <a:solidFill>
            <a:srgbClr val="F0FD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7961090" y="3051562"/>
            <a:ext cx="38100" cy="895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7961090" y="4118362"/>
            <a:ext cx="38100" cy="895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85800" y="520050"/>
            <a:ext cx="7275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DEL SISTEMA • MATRIZ DE GUARDERÍA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685800" y="80010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Tope Físico Automatizado: Límite 8 a 10 Perros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8208740" y="3261112"/>
            <a:ext cx="439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Seguridad y Bienestar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8208740" y="3537337"/>
            <a:ext cx="437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físico controlado sin sobrepoblación.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8208740" y="4327912"/>
            <a:ext cx="439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Datos ordenados y Roles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8208740" y="4604137"/>
            <a:ext cx="437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4E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Panel de rentabilidad privado</a:t>
            </a:r>
            <a:r>
              <a:rPr b="0" i="0" lang="en-US" sz="1200" u="none" cap="none" strike="noStrike">
                <a:solidFill>
                  <a:srgbClr val="134E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id="311" name="Google Shape;311;p22" title="Diseño sin títu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34911"/>
            <a:ext cx="3229617" cy="345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2" name="Google Shape;312;p22" title="Diseño sin títul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25" y="2447850"/>
            <a:ext cx="4371900" cy="31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/>
          <p:nvPr/>
        </p:nvSpPr>
        <p:spPr>
          <a:xfrm>
            <a:off x="3533775" y="4486126"/>
            <a:ext cx="2838450" cy="523875"/>
          </a:xfrm>
          <a:prstGeom prst="roundRect">
            <a:avLst>
              <a:gd fmla="val 2181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6677025" y="4486126"/>
            <a:ext cx="1981200" cy="523875"/>
          </a:xfrm>
          <a:prstGeom prst="roundRect">
            <a:avLst>
              <a:gd fmla="val 21818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4405312" y="1847998"/>
            <a:ext cx="3381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CONCLUSIÓN DEL PROYECTO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782835" y="2200423"/>
            <a:ext cx="10626328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Total del Negocio, Seguridad y Escalabilidad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1928812" y="3480345"/>
            <a:ext cx="833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producto diseñado para transformar la operatoria diaria desde </a:t>
            </a:r>
            <a:r>
              <a:rPr lang="en-US" sz="16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comienzo.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3445668" y="4638526"/>
            <a:ext cx="3014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o comentarios?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696075" y="4638526"/>
            <a:ext cx="1943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¡Muchas gracias!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4" title="Diseño sin títul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88"/>
            <a:ext cx="12192000" cy="685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